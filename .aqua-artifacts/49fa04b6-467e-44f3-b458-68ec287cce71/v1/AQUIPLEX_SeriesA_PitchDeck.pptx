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AQUIPLEX, and we're here to talk about a fundamental shift in how businesses interact with AI. We're building the intelligence layer that makes AI truly work for enterprises.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assistants promise transformation, but often deliver frustration. They lack the ability to truly understand the ongoing context of a user's work, leading to disjointed experiences and limited utility, especially in complex business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solutions, including popular RAG implementations, often treat context as a temporary lookup. They fail to build a persistent, evolving understanding of the user, their projects, and the vast, disparate data within an enterprise. This means they can't connect the dots in a meaningful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identified the root cause: the absence of a true, adaptive memory. AI assistants are brilliant at specific tasks, but they forget. They don't learn from experience or weave together complex threads of information across days, weeks, or even years of interaction. This is where AQUIPLEX makes a fundamental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AQUIPLEX is a groundbreaking AI intelligence layer. We've built an adaptive memory that allows AI to truly learn, remember, and connect information from all your enterprise data, across all modalities. This enables it to generate outputs that are not just informative, but genuinely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heart of AQUIPLEX is our proprietary Memory Engine. Unlike simple vector databases, our engine creates a dynamic, interconnected knowledge graph that evolves with every interaction and new piece of information. It's not just retrieving data; it's building a deep, persistent understanding of your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data is often trapped in files—PDFs, spreadsheets, presentations, emails. Our File Intelligence component goes beyond basic OCR. It intelligently parses, extracts, and understands the relationships within and between these documents, making previously siloed information instantly accessible and usable by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is only half the battle. Our Artifact Engine takes that deep understanding and produces concrete, useful outputs. Whether it's a financial report summary, a legal brief draft, or even a presentation outline, AQUIPLEX delivers finished artifacts, not just raw information, drastically improving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for AI is enormous, but the segment for truly intelligent, context-aware AI in the enterprise remains largely untapped. We're targeting the core workflows where accuracy, context, and recall are paramount, representing a multi-billion dollar opportunity for AQUIPLEX.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model is designed for rapid scalability and profitability. We offer a flexible SaaS subscription that aligns with the value we deliver, providing clear ROI for our customers. We also anticipate high-margin professional services for complex enterprise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GTM strategy focuses on a multi-pronged approach. We'll secure foundational enterprise clients through direct sales, expand reach through strategic partnerships, and build market credibility through thought leadership. We aim to become the standard for intelligent enterprise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AI landscape is crowded, AQUIPLEX stands apart. We are not just another LLM wrapper or RAG solution. Our adaptive memory architecture and artifact engine provide a level of persistent intelligence and actionable output that competitors simply cannot match. We operate at a higher plane of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early traction validates AQUIPLEX's immense value. We've proven our capabilities in real-world enterprise settings, delivering tangible efficiency gains and securing significant interest from major players. Our core technology is also protected by a pending patent.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aggressive and clearly defined. We plan to rapidly expand our product capabilities and market reach, moving from initial enterprise deployments to broader market penetration, driven by continuous innovation and user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seeking $10 million in Series A funding to propel AQUIPLEX into its next phase of growth. This investment will enable us to aggressively scale our team, accelerate our market penetration, and solidify our technological lead, driving substantial returns for our investors.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8B7CF6"/>
          </a:solidFill>
          <a:ln/>
        </p:spPr>
      </p:sp>
      <p:sp>
        <p:nvSpPr>
          <p:cNvPr id="3" name="Text 1"/>
          <p:cNvSpPr/>
          <p:nvPr/>
        </p:nvSpPr>
        <p:spPr>
          <a:xfrm>
            <a:off x="822960" y="2286000"/>
            <a:ext cx="10515600" cy="1463040"/>
          </a:xfrm>
          <a:prstGeom prst="rect">
            <a:avLst/>
          </a:prstGeom>
          <a:noFill/>
          <a:ln/>
        </p:spPr>
        <p:txBody>
          <a:bodyPr wrap="square" rtlCol="0" anchor="ctr"/>
          <a:lstStyle/>
          <a:p>
            <a:pPr algn="l" indent="0" marL="0">
              <a:buNone/>
            </a:pPr>
            <a:r>
              <a:rPr lang="en-US" sz="4000" b="1" dirty="0">
                <a:solidFill>
                  <a:srgbClr val="F4F4F6"/>
                </a:solidFill>
                <a:latin typeface="Calibri" pitchFamily="34" charset="0"/>
                <a:ea typeface="Calibri" pitchFamily="34" charset="-122"/>
                <a:cs typeface="Calibri" pitchFamily="34" charset="-120"/>
              </a:rPr>
              <a:t>AQUIPLEX Series A Pitch Deck</a:t>
            </a:r>
            <a:endParaRPr lang="en-US" sz="4000" dirty="0"/>
          </a:p>
        </p:txBody>
      </p:sp>
      <p:sp>
        <p:nvSpPr>
          <p:cNvPr id="4" name="Text 2"/>
          <p:cNvSpPr/>
          <p:nvPr/>
        </p:nvSpPr>
        <p:spPr>
          <a:xfrm>
            <a:off x="822960" y="3703320"/>
            <a:ext cx="10058400" cy="822960"/>
          </a:xfrm>
          <a:prstGeom prst="rect">
            <a:avLst/>
          </a:prstGeom>
          <a:noFill/>
          <a:ln/>
        </p:spPr>
        <p:txBody>
          <a:bodyPr wrap="square" rtlCol="0" anchor="ctr"/>
          <a:lstStyle/>
          <a:p>
            <a:pPr algn="l" indent="0" marL="0">
              <a:buNone/>
            </a:pPr>
            <a:r>
              <a:rPr lang="en-US" sz="1800" dirty="0">
                <a:solidFill>
                  <a:srgbClr val="A0A0AA"/>
                </a:solidFill>
                <a:latin typeface="Calibri" pitchFamily="34" charset="0"/>
                <a:ea typeface="Calibri" pitchFamily="34" charset="-122"/>
                <a:cs typeface="Calibri" pitchFamily="34" charset="-120"/>
              </a:rPr>
              <a:t>The Generative AI Platform that Delivers Actionable Intelligence, Not Just Information.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AQUIPLEX Series A Pitch Deck</a:t>
            </a:r>
            <a:endParaRPr lang="en-US" sz="2800" dirty="0"/>
          </a:p>
        </p:txBody>
      </p:sp>
      <p:sp>
        <p:nvSpPr>
          <p:cNvPr id="4" name="Shape 2"/>
          <p:cNvSpPr/>
          <p:nvPr/>
        </p:nvSpPr>
        <p:spPr>
          <a:xfrm>
            <a:off x="658368" y="1243584"/>
            <a:ext cx="1005840" cy="54864"/>
          </a:xfrm>
          <a:prstGeom prst="rect">
            <a:avLst/>
          </a:prstGeom>
          <a:solidFill>
            <a:srgbClr val="8B7CF6"/>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The Paradox of AI Assistants</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Current AI assistants are context-poor and forgetful.</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Struggle with complex, multi-modal enterprise data.</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Lack true recall and temporal understanding of interactions.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Generate plausible but often irrelevant or incomplete outputs.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Resulting in user frustration and significant productivity loss.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Why Current Solutions Fall Short</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Basic RAG (Retrieval Augmented Generation) has inherent limitations.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Siloed data access prevents unified intelligence across systems.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Limited multi-modal processing capabilities for rich content.</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Fragmented tooling requires high integration costs and effort.</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Over-reliance on simple vector databases alone isn't enough.</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The Core Flaw: Lack of Adaptive Memory</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Stateless interactions impede deep, evolving context.</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Inability to learn from prior conversations or actions.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Fails to connect disparate information sources dynamically.</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Generic responses for unique, highly specific user needs.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No self-correction or progressive understanding over time.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Introducing AQUIPLEX: The Intelligent AI Layer</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Patented multi-modal adaptive memory architecture.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Deep contextual understanding across all data types.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Seamlessly integrates with diverse enterprise systems.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Generates highly personalized, actionable intelligence.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Designed for mission-critical, complex workflows.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The AQUIPLEX Memory Engine</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Dynamic semantic graph for evolving context.</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Persistent memory stores knowledge across interactions.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Real-time learning and adaptation to user intent.</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Stores multi-modal information: text, audio, visual, structured data.</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Ensures continuity and deeper, human-like understanding.</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File Intelligence: Unlocking Siloed Data</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Advanced parsing of complex, multi-format file types.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Extracts structured and unstructured data with high fidelity.</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Automated entity and relationship extraction from documents.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Cross-references information across thousands of documents.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Transforms raw data into an interconnected knowledge base.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The AQUIPLEX Artifact Engine</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Generates precise, complete, and actionable knowledge artifacts.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Outputs include reports, summaries, code, designs, strategies.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Leverages full historical and contextual data for accuracy.</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Ensures factual accuracy and relevance, minimizing hallucination.</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Reduces manual effort for artifact creation by up to 80%.</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Massive &amp; Untapped Market Opportunity</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Global AI market expected to exceed $300B by 2024.</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Enterprise AI software segment projected $100B+ by 2025.</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Focus on high-value, complex workflows in key verticals.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Initial target markets: Finance, Legal, Consulting, Healthcare.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Addressing critical unmet need for true AI intelligence at scale.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Scalable, High-Margin Business Model</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SaaS subscription based on usage, data volume, and features.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Tiered pricing: Basic, Pro, Enterprise for diverse needs.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Value-based pricing tied directly to productivity gains.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Custom integration and professional services for large clients.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Strong projected gross margins increasing with scale.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Go-to-Market Strategy</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Direct enterprise sales team targeting anchor clients in key verticals.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Strategic partnerships with system integrators and data providers.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Thought leadership content, webinars, and industry events.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Targeted digital campaigns focusing on specific pain points.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Leveraging early pilot success stories for market validation.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Differentiated in a Crowded Landscape</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LLM providers: Lack adaptive memory and persistent context.</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Basic RAG solutions: Limited by retrieval depth and scope.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Workflow automation tools: Rule-based, not intelligently adaptive.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Data visualization platforms: Descriptive, not generative.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AQUIPLEX: Unique end-to-end intelligence layer with persistent memory.</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Early Traction &amp; Validation</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Completed 3 successful enterprise pilots across diverse industries.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Pilot clients reported average 25% efficiency gain on key tasks.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Secured Letters of Intent from 2 Fortune 500 companies.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Strong positive feedback and high user engagement metrics.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Proprietary Memory Engine technology patent filed.</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Product Roadmap &amp; Growth</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Q3 2024: Public beta launch for Pro tier with expanded integrations.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Q4 2024: Enhanced multi-modal processing and advanced analytics.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H1 2025: Self-service onboarding and SMB-focused features.</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H2 2025: Vertical-specific solution packages for Legal and Healthcare.</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2026: Global market expansion and API-first ecosystem growth.</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8B7CF6"/>
          </a:solidFill>
          <a:ln/>
        </p:spPr>
      </p:sp>
      <p:sp>
        <p:nvSpPr>
          <p:cNvPr id="3" name="Text 1"/>
          <p:cNvSpPr/>
          <p:nvPr/>
        </p:nvSpPr>
        <p:spPr>
          <a:xfrm>
            <a:off x="640080" y="411480"/>
            <a:ext cx="10972800" cy="822960"/>
          </a:xfrm>
          <a:prstGeom prst="rect">
            <a:avLst/>
          </a:prstGeom>
          <a:noFill/>
          <a:ln/>
        </p:spPr>
        <p:txBody>
          <a:bodyPr wrap="square" rtlCol="0" anchor="ctr"/>
          <a:lstStyle/>
          <a:p>
            <a:pPr indent="0" marL="0">
              <a:buNone/>
            </a:pPr>
            <a:r>
              <a:rPr lang="en-US" sz="2800" b="1" dirty="0">
                <a:solidFill>
                  <a:srgbClr val="F4F4F6"/>
                </a:solidFill>
                <a:latin typeface="Calibri" pitchFamily="34" charset="0"/>
                <a:ea typeface="Calibri" pitchFamily="34" charset="-122"/>
                <a:cs typeface="Calibri" pitchFamily="34" charset="-120"/>
              </a:rPr>
              <a:t>Series A Funding Ask: $10M</a:t>
            </a:r>
            <a:endParaRPr lang="en-US" sz="2800" dirty="0"/>
          </a:p>
        </p:txBody>
      </p:sp>
      <p:sp>
        <p:nvSpPr>
          <p:cNvPr id="4" name="Shape 2"/>
          <p:cNvSpPr/>
          <p:nvPr/>
        </p:nvSpPr>
        <p:spPr>
          <a:xfrm>
            <a:off x="658368" y="1243584"/>
            <a:ext cx="1005840" cy="54864"/>
          </a:xfrm>
          <a:prstGeom prst="rect">
            <a:avLst/>
          </a:prstGeom>
          <a:solidFill>
            <a:srgbClr val="8B7CF6"/>
          </a:solidFill>
          <a:ln/>
        </p:spPr>
      </p:sp>
      <p:sp>
        <p:nvSpPr>
          <p:cNvPr id="5" name="Text 3"/>
          <p:cNvSpPr/>
          <p:nvPr/>
        </p:nvSpPr>
        <p:spPr>
          <a:xfrm>
            <a:off x="685800" y="1600200"/>
            <a:ext cx="10881360" cy="4663440"/>
          </a:xfrm>
          <a:prstGeom prst="rect">
            <a:avLst/>
          </a:prstGeom>
          <a:noFill/>
          <a:ln/>
        </p:spPr>
        <p:txBody>
          <a:bodyPr wrap="square" rtlCol="0" anchor="t"/>
          <a:lstStyle/>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Scale engineering and product development teams (40%).</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Expand sales and marketing efforts for GTM acceleration (30%).</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Invest in R&amp;D for advanced AI capabilities (20%).</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Operational expenses and infrastructure scaling (10%).</a:t>
            </a:r>
            <a:endParaRPr lang="en-US" sz="1700" dirty="0"/>
          </a:p>
          <a:p>
            <a:pPr marL="177800" indent="-177800">
              <a:lnSpc>
                <a:spcPct val="135000"/>
              </a:lnSpc>
              <a:buSzPct val="100000"/>
              <a:buChar char="•"/>
            </a:pPr>
            <a:r>
              <a:rPr lang="en-US" sz="1700" dirty="0">
                <a:solidFill>
                  <a:srgbClr val="F4F4F6"/>
                </a:solidFill>
                <a:latin typeface="Calibri" pitchFamily="34" charset="0"/>
                <a:ea typeface="Calibri" pitchFamily="34" charset="-122"/>
                <a:cs typeface="Calibri" pitchFamily="34" charset="-120"/>
              </a:rPr>
              <a:t>Targeting 5x revenue growth within 24 months post-investment.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AQUIPLEX Series A Pitch Deck</dc:title>
  <dc:subject>PptxGenJS Presentation</dc:subject>
  <dc:creator>AQUA</dc:creator>
  <cp:lastModifiedBy>AQUA</cp:lastModifiedBy>
  <cp:revision>1</cp:revision>
  <dcterms:created xsi:type="dcterms:W3CDTF">2026-07-16T06:11:29Z</dcterms:created>
  <dcterms:modified xsi:type="dcterms:W3CDTF">2026-07-16T06:11:29Z</dcterms:modified>
</cp:coreProperties>
</file>